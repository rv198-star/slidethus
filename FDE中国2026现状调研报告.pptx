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10a67cdfbd4765" /><Relationship Type="http://schemas.openxmlformats.org/officeDocument/2006/relationships/extended-properties" Target="/docProps/app.xml" Id="R1eb06d10e54b442a" /><Relationship Type="http://schemas.openxmlformats.org/officeDocument/2006/relationships/officeDocument" Target="/ppt/presentation.xml" Id="Rb7f179ba0dbe48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d4eaa8d9f41b5"/>
  </p:sldMasterIdLst>
  <p:notesMasterIdLst>
    <p:notesMasterId xmlns:r="http://schemas.openxmlformats.org/officeDocument/2006/relationships" r:id="R6f6db204a0ef436c"/>
  </p:notesMasterIdLst>
  <p:sldIdLst>
    <p:sldId xmlns:r="http://schemas.openxmlformats.org/officeDocument/2006/relationships" id="256" r:id="R25f195fff1f3438c"/>
    <p:sldId xmlns:r="http://schemas.openxmlformats.org/officeDocument/2006/relationships" id="257" r:id="R3b3a6105a1a6438a"/>
    <p:sldId xmlns:r="http://schemas.openxmlformats.org/officeDocument/2006/relationships" id="258" r:id="R7df3419df1dd4f2e"/>
    <p:sldId xmlns:r="http://schemas.openxmlformats.org/officeDocument/2006/relationships" id="259" r:id="R1f385efcc6e046f6"/>
    <p:sldId xmlns:r="http://schemas.openxmlformats.org/officeDocument/2006/relationships" id="260" r:id="R5c110df74c784937"/>
    <p:sldId xmlns:r="http://schemas.openxmlformats.org/officeDocument/2006/relationships" id="261" r:id="Rff34b30950df4358"/>
    <p:sldId xmlns:r="http://schemas.openxmlformats.org/officeDocument/2006/relationships" id="262" r:id="Ra1b13d8faea04982"/>
    <p:sldId xmlns:r="http://schemas.openxmlformats.org/officeDocument/2006/relationships" id="263" r:id="R012b82f3b75b4871"/>
    <p:sldId xmlns:r="http://schemas.openxmlformats.org/officeDocument/2006/relationships" id="264" r:id="R89291234e5204101"/>
    <p:sldId xmlns:r="http://schemas.openxmlformats.org/officeDocument/2006/relationships" id="265" r:id="Rfc166284a10746f7"/>
    <p:sldId xmlns:r="http://schemas.openxmlformats.org/officeDocument/2006/relationships" id="266" r:id="R46c08bd08e774511"/>
    <p:sldId xmlns:r="http://schemas.openxmlformats.org/officeDocument/2006/relationships" id="267" r:id="R45aec0a1848348bf"/>
    <p:sldId xmlns:r="http://schemas.openxmlformats.org/officeDocument/2006/relationships" id="268" r:id="Rb4451600b354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f57dc87034a71" /><Relationship Type="http://schemas.openxmlformats.org/officeDocument/2006/relationships/slideMaster" Target="/ppt/slideMasters/slideMaster1.xml" Id="Rbc9d4eaa8d9f41b5" /><Relationship Type="http://schemas.openxmlformats.org/officeDocument/2006/relationships/notesMaster" Target="/ppt/notesMasters/notesMaster1.xml" Id="R6f6db204a0ef436c" /><Relationship Type="http://schemas.openxmlformats.org/officeDocument/2006/relationships/presProps" Target="/ppt/presProps.xml" Id="Rd93756853b68431c" /><Relationship Type="http://schemas.openxmlformats.org/officeDocument/2006/relationships/tableStyles" Target="/ppt/tableStyles.xml" Id="R87a8c8a0abf74c39" /><Relationship Type="http://schemas.openxmlformats.org/officeDocument/2006/relationships/slide" Target="/ppt/slides/slide1.xml" Id="R25f195fff1f3438c" /><Relationship Type="http://schemas.openxmlformats.org/officeDocument/2006/relationships/slide" Target="/ppt/slides/slide2.xml" Id="R3b3a6105a1a6438a" /><Relationship Type="http://schemas.openxmlformats.org/officeDocument/2006/relationships/slide" Target="/ppt/slides/slide3.xml" Id="R7df3419df1dd4f2e" /><Relationship Type="http://schemas.openxmlformats.org/officeDocument/2006/relationships/slide" Target="/ppt/slides/slide4.xml" Id="R1f385efcc6e046f6" /><Relationship Type="http://schemas.openxmlformats.org/officeDocument/2006/relationships/slide" Target="/ppt/slides/slide5.xml" Id="R5c110df74c784937" /><Relationship Type="http://schemas.openxmlformats.org/officeDocument/2006/relationships/slide" Target="/ppt/slides/slide6.xml" Id="Rff34b30950df4358" /><Relationship Type="http://schemas.openxmlformats.org/officeDocument/2006/relationships/slide" Target="/ppt/slides/slide7.xml" Id="Ra1b13d8faea04982" /><Relationship Type="http://schemas.openxmlformats.org/officeDocument/2006/relationships/slide" Target="/ppt/slides/slide8.xml" Id="R012b82f3b75b4871" /><Relationship Type="http://schemas.openxmlformats.org/officeDocument/2006/relationships/slide" Target="/ppt/slides/slide9.xml" Id="R89291234e5204101" /><Relationship Type="http://schemas.openxmlformats.org/officeDocument/2006/relationships/slide" Target="/ppt/slides/slide10.xml" Id="Rfc166284a10746f7" /><Relationship Type="http://schemas.openxmlformats.org/officeDocument/2006/relationships/slide" Target="/ppt/slides/slide11.xml" Id="R46c08bd08e774511" /><Relationship Type="http://schemas.openxmlformats.org/officeDocument/2006/relationships/slide" Target="/ppt/slides/slide12.xml" Id="R45aec0a1848348bf" /><Relationship Type="http://schemas.openxmlformats.org/officeDocument/2006/relationships/slide" Target="/ppt/slides/slide13.xml" Id="Rb4451600b354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e6b88661b6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b26761e93423a" /><Relationship Type="http://schemas.openxmlformats.org/officeDocument/2006/relationships/notesMaster" Target="/ppt/notesMasters/notesMaster1.xml" Id="R5733fac4584845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481f86f344671" /><Relationship Type="http://schemas.openxmlformats.org/officeDocument/2006/relationships/notesMaster" Target="/ppt/notesMasters/notesMaster1.xml" Id="R4c5f5fac360744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fe35355af046be" /><Relationship Type="http://schemas.openxmlformats.org/officeDocument/2006/relationships/notesMaster" Target="/ppt/notesMasters/notesMaster1.xml" Id="Rfbb5ac4430d848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b91fd307534b40" /><Relationship Type="http://schemas.openxmlformats.org/officeDocument/2006/relationships/notesMaster" Target="/ppt/notesMasters/notesMaster1.xml" Id="R9002b1e675d042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299fbd361147fa" /><Relationship Type="http://schemas.openxmlformats.org/officeDocument/2006/relationships/notesMaster" Target="/ppt/notesMasters/notesMaster1.xml" Id="R5c1e7a9fac3c4f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22c0c440bf4fea" /><Relationship Type="http://schemas.openxmlformats.org/officeDocument/2006/relationships/notesMaster" Target="/ppt/notesMasters/notesMaster1.xml" Id="R805b0028375940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ce5fc7d8c34aa3" /><Relationship Type="http://schemas.openxmlformats.org/officeDocument/2006/relationships/notesMaster" Target="/ppt/notesMasters/notesMaster1.xml" Id="Rafd2ec9ca67c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36576888dc48b6" /><Relationship Type="http://schemas.openxmlformats.org/officeDocument/2006/relationships/notesMaster" Target="/ppt/notesMasters/notesMaster1.xml" Id="R8c2b428acd604c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f806ae066471c" /><Relationship Type="http://schemas.openxmlformats.org/officeDocument/2006/relationships/notesMaster" Target="/ppt/notesMasters/notesMaster1.xml" Id="R2e1ca3e738ed41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1793fdd84b4203" /><Relationship Type="http://schemas.openxmlformats.org/officeDocument/2006/relationships/notesMaster" Target="/ppt/notesMasters/notesMaster1.xml" Id="R2f6df1e366ad4c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85ca0207e94b12" /><Relationship Type="http://schemas.openxmlformats.org/officeDocument/2006/relationships/notesMaster" Target="/ppt/notesMasters/notesMaster1.xml" Id="R5d1d6d260c4f42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b1ee52c1634b4e" /><Relationship Type="http://schemas.openxmlformats.org/officeDocument/2006/relationships/notesMaster" Target="/ppt/notesMasters/notesMaster1.xml" Id="R787a0719108a43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5445c9e7ce4b59" /><Relationship Type="http://schemas.openxmlformats.org/officeDocument/2006/relationships/notesMaster" Target="/ppt/notesMasters/notesMaster1.xml" Id="R2dc2baf810454f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开场先说明研究口径：FDE 指 Forward Deployed Engineer。本报告研究的是角色与组织形态，不估算市场规模。封面图为 AI 原创氛围视觉，不作为事实证据。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这是全篇结论。请特别区分：岗位样本是可核验事实；“职业市场尚未定型”是基于命名分散、样本稀疏和职责跨度做出的研究判断。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https://hk.linkedin.com/jobs/view/forward-deployed-engineer-at-01-ai-4453905568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- https://www.michaelpage.com.cn/job-detail/ai-forward-deployed-engineer%EF%BC%88fde%EF%BC%89/ref/jn-062026-7029518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这一页是因果解释，不是市场统计。OpenAI、Google Cloud 与 Palantir 的官方岗位描述共同强调从 discovery 到 production；中国岗位样本则进一步突出权限、私有化、运营与验收。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https://www.google.com/about/careers/applications/jobs/results/92280332178334406-forward-deployed-engineer-generative-ai-google-cloud-english-mandarin</a:t>
            </a:r>
          </a:p>
          <a:p xmlns:a="http://schemas.openxmlformats.org/drawingml/2006/main">
            <a:r>
              <a:t>- https://jobs.lever.co/palantir/1bb19522-3936-4adc-9ced-c3df8b5900b9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明确使用 production adoption、measurable workflow impact 和 eval-driven feedback 衡量 FDE 成功；Palantir 强调把现场学习代谢进平台。这里将其抽象为五步闭环。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https://jobs.lever.co/palantir/1bb19522-3936-4adc-9ced-c3df8b5900b9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五个中国公开样本覆盖不同组织类型。遇碳和识林来自公司官网；01.AI、安永和 Michael Page 来自可追溯招聘页面。表格只用于识别职责与环境，不用于估算岗位数量。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https://hk.linkedin.com/jobs/view/forward-deployed-engineer-at-01-ai-4453905568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- https://www.michaelpage.com.cn/job-detail/ai-forward-deployed-engineer%EF%BC%88fde%EF%BC%89/ref/jn-062026-7029518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这是一张角色比较框架，不是职业等级排序。FDE 的辨识度来自五项责任同时存在，尤其是生产代码、采用运营与产品反馈闭环的组合。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https://jobs.lever.co/palantir/1bb19522-3936-4adc-9ced-c3df8b5900b9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四层约束来自中国岗位职责的共性抽象。遇碳强调政务网、统一身份与数据不出域；识林强调 GMP 与药企现场；安永和 Michael Page 强调权限、日志与企业系统集成。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- https://www.michaelpage.com.cn/job-detail/ai-forward-deployed-engineer%EF%BC%88fde%EF%BC%89/ref/jn-062026-7029518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公开岗位显示 FDE 背景并不唯一：OpenAI 偏资深工程与客户交付；遇碳接受 B 端交付、实施、运维、研发或 LLM/Agent 背景；识林偏行业一线经验。共性是跨技术、业务和交付。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四种模型是研究框架。遇碳与识林体现行业型，安永体现咨询交付型；01.AI、Google Cloud 与 OpenAI 更接近平台型；内部 FDE 在中国可能以 AI BP、AI 应用工程或数字化突击队等名称出现。最后一句为推断。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- https://hk.linkedin.com/jobs/view/forward-deployed-engineer-at-01-ai-4453905568</a:t>
            </a:r>
          </a:p>
          <a:p xmlns:a="http://schemas.openxmlformats.org/drawingml/2006/main">
            <a:r>
              <a:t>- https://www.google.com/about/careers/applications/jobs/results/92280332178334406-forward-deployed-engineer-generative-ai-google-cloud-english-mandarin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成熟度曲线不是统计分布，而是组织能力模型。判断依据：遇碳和识林已明确要求共性能力、SOP 或产品需求回流；这说明部分企业开始从一次性交付走向平台反馈，但公开信息不足以判断规模。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https://jobs.lever.co/palantir/1bb19522-3936-4adc-9ced-c3df8b5900b9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这页全部是情景推断。全球信号包括 OpenAI 在多个地区与行业招聘 FDE、Google Cloud 面向中国出海客户招聘 FDE；中国信号来自五个公开岗位样本。置信度反映证据强弱，不是概率。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https://openai.com/careers/search/?q=forward+deployed</a:t>
            </a:r>
          </a:p>
          <a:p xmlns:a="http://schemas.openxmlformats.org/drawingml/2006/main">
            <a:r>
              <a:t>- https://www.google.com/about/careers/applications/jobs/results/92280332178334406-forward-deployed-engineer-generative-ai-google-cloud-english-mandarin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https://hk.linkedin.com/jobs/view/forward-deployed-engineer-at-01-ai-4453905568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- https://www.michaelpage.com.cn/job-detail/ai-forward-deployed-engineer%EF%BC%88fde%EF%BC%89/ref/jn-062026-7029518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行动框架来自全球职责共性与中国约束的合并推导。核心是避免把 FDE 变成孤立驻场角色：必须有业务 Owner、平台支援、生产权限和复用回路。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https://jobs.lever.co/palantir/1bb19522-3936-4adc-9ced-c3df8b5900b9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研究截止 2026-08-30。中国样本：遇碳、识林、01.AI、安永中国、Michael Page 匿名客户。全球基准：Palantir、OpenAI、Google Cloud。iResearch 2026 报告仅用于确认 FDE 已进入中国数字化讨论，不用于岗位统计。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https://meet-carbon.com/about/careers/forward-deployed-engineer</a:t>
            </a:r>
          </a:p>
          <a:p xmlns:a="http://schemas.openxmlformats.org/drawingml/2006/main">
            <a:r>
              <a:t>- https://lib.shilinx.com/wiki/index.php?title=%E3%80%90%E8%AF%86%E6%9E%97%E8%AF%9A%E8%81%98%E3%80%91%E5%88%B6%E8%8D%AF_AI_%E5%89%8D%E7%BA%BF%E9%83%A8%E7%BD%B2%E5%B7%A5%E7%A8%8B%E5%B8%88%EF%BC%88FDE%EF%BC%89</a:t>
            </a:r>
          </a:p>
          <a:p xmlns:a="http://schemas.openxmlformats.org/drawingml/2006/main">
            <a:r>
              <a:t>- https://hk.linkedin.com/jobs/view/forward-deployed-engineer-at-01-ai-4453905568</a:t>
            </a:r>
          </a:p>
          <a:p xmlns:a="http://schemas.openxmlformats.org/drawingml/2006/main">
            <a:r>
              <a:t>- https://www.nowcoder.com/jobs/detail/456568</a:t>
            </a:r>
          </a:p>
          <a:p xmlns:a="http://schemas.openxmlformats.org/drawingml/2006/main">
            <a:r>
              <a:t>- https://www.michaelpage.com.cn/job-detail/ai-forward-deployed-engineer%EF%BC%88fde%EF%BC%89/ref/jn-062026-7029518</a:t>
            </a:r>
          </a:p>
          <a:p xmlns:a="http://schemas.openxmlformats.org/drawingml/2006/main">
            <a:r>
              <a:t>- https://jobs.lever.co/palantir/1bb19522-3936-4adc-9ced-c3df8b5900b9</a:t>
            </a:r>
          </a:p>
          <a:p xmlns:a="http://schemas.openxmlformats.org/drawingml/2006/main">
            <a:r>
              <a:t>- https://openai.com/careers/forward-deployed-engineer-%28fde%29-sf-san-francisco/</a:t>
            </a:r>
          </a:p>
          <a:p xmlns:a="http://schemas.openxmlformats.org/drawingml/2006/main">
            <a:r>
              <a:t>- https://www.google.com/about/careers/applications/jobs/results/92280332178334406-forward-deployed-engineer-generative-ai-google-cloud-english-mandarin</a:t>
            </a:r>
          </a:p>
          <a:p xmlns:a="http://schemas.openxmlformats.org/drawingml/2006/main">
            <a:r>
              <a:t>- https://pdf.dfcfw.com/pdf/H3_AP202605191822433605_1.pdf?1779196726000.pdf=</a:t>
            </a:r>
          </a:p>
          <a:p xmlns:a="http://schemas.openxmlformats.org/drawingml/2006/main">
            <a:r>
              <a:t>- https://www.cnnic.org.cn/n4/2025/1021/c88-11391.html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44e8eeb6c4a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efff7df0be461e" /><Relationship Type="http://schemas.openxmlformats.org/officeDocument/2006/relationships/slideLayout" Target="/ppt/slideLayouts/slideLayout1.xml" Id="R42a7d53fb1ce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a7d53fb1ce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adfe552a64312" /><Relationship Type="http://schemas.openxmlformats.org/officeDocument/2006/relationships/image" Target="/ppt/media/image.png" Id="R5acaf68d683047c0" /><Relationship Type="http://schemas.openxmlformats.org/officeDocument/2006/relationships/notesSlide" Target="/ppt/notesSlides/notesSlide1.xml" Id="R1aae370bfb3d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12d0601944a95" /><Relationship Type="http://schemas.openxmlformats.org/officeDocument/2006/relationships/notesSlide" Target="/ppt/notesSlides/notesSlide2.xml" Id="R2c75daa9602c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7501532f543cb" /><Relationship Type="http://schemas.openxmlformats.org/officeDocument/2006/relationships/notesSlide" Target="/ppt/notesSlides/notesSlide3.xml" Id="R2e24eb1e13b2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19dd02e264e58" /><Relationship Type="http://schemas.openxmlformats.org/officeDocument/2006/relationships/notesSlide" Target="/ppt/notesSlides/notesSlide4.xml" Id="R22f768968e5e43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f6f8f52b7459b" /><Relationship Type="http://schemas.openxmlformats.org/officeDocument/2006/relationships/notesSlide" Target="/ppt/notesSlides/notesSlide5.xml" Id="R51a7a44b38504f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8310d98f24691" /><Relationship Type="http://schemas.openxmlformats.org/officeDocument/2006/relationships/notesSlide" Target="/ppt/notesSlides/notesSlide6.xml" Id="Rdce47ef46b3e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74cead9d64a38" /><Relationship Type="http://schemas.openxmlformats.org/officeDocument/2006/relationships/notesSlide" Target="/ppt/notesSlides/notesSlide7.xml" Id="R6dcf46a10b9d4d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ad7cf19ae4ecc" /><Relationship Type="http://schemas.openxmlformats.org/officeDocument/2006/relationships/notesSlide" Target="/ppt/notesSlides/notesSlide8.xml" Id="R31c040ad48c349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0bd744f32415f" /><Relationship Type="http://schemas.openxmlformats.org/officeDocument/2006/relationships/notesSlide" Target="/ppt/notesSlides/notesSlide9.xml" Id="Rbba12bf4053b4d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cfe4d847a4c57" /><Relationship Type="http://schemas.openxmlformats.org/officeDocument/2006/relationships/notesSlide" Target="/ppt/notesSlides/notesSlide10.xml" Id="R0bcd8d96222e40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d8521030644ac" /><Relationship Type="http://schemas.openxmlformats.org/officeDocument/2006/relationships/notesSlide" Target="/ppt/notesSlides/notesSlide11.xml" Id="R0be9675ef9e84b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48a1d2b8a438e" /><Relationship Type="http://schemas.openxmlformats.org/officeDocument/2006/relationships/notesSlide" Target="/ppt/notesSlides/notesSlide12.xml" Id="R9df68b3be94940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47a45feb941c0" /><Relationship Type="http://schemas.openxmlformats.org/officeDocument/2006/relationships/notesSlide" Target="/ppt/notesSlides/notesSlide13.xml" Id="R99c35f1b1f1346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af68d683047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87A30-9F6F-4999-B812-6A7958FB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4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F4D19-6D5E-4C7B-8020-6E85216E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66750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61FB8-2922-45B4-B1B5-89743B98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DEE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6DEE9"/>
                </a:solidFill>
                <a:latin typeface="PingFang SC"/>
                <a:ea typeface="PingFang SC"/>
                <a:cs typeface="PingFang SC"/>
              </a:rPr>
              <a:t>2026 CHINA FIELD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FB26B-2FAC-4B59-BAFB-4A7A2A94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F52BB-8C46-4B35-BCC5-2A445C5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角色先于组织成熟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46AA0-E84E-4CBF-A598-8E8416DB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6EBF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6EBF2"/>
                </a:solidFill>
                <a:latin typeface="PingFang SC"/>
                <a:ea typeface="PingFang SC"/>
                <a:cs typeface="PingFang SC"/>
              </a:rPr>
              <a:t>前线部署工程师现状调研报告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3E7D6-9468-4B18-811A-6B43E87B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05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F702D-B764-426D-BFD0-BFDAF9F8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C4CED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4CEDA"/>
                </a:solidFill>
                <a:latin typeface="PingFang SC"/>
                <a:ea typeface="PingFang SC"/>
                <a:cs typeface="PingFang SC"/>
              </a:rPr>
              <a:t>公开岗位与企业材料观察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C4CED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4CEDA"/>
                </a:solidFill>
                <a:latin typeface="PingFang SC"/>
                <a:ea typeface="PingFang SC"/>
                <a:cs typeface="PingFang SC"/>
              </a:rPr>
              <a:t>研究截止：2026.08.30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5706F-E31B-4B7C-BFD9-59CEF4FB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484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9EAAB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EAABD"/>
                </a:solidFill>
                <a:latin typeface="PingFang SC"/>
                <a:ea typeface="PingFang SC"/>
                <a:cs typeface="PingFang SC"/>
              </a:rPr>
              <a:t>SLIDETHUS × TASTE ART DIRECTION</a:t>
            </a:r>
          </a:p>
        </p:txBody>
      </p:sp>
    </p:spTree>
    <p:extLst>
      <p:ext uri="{BB962C8B-B14F-4D97-AF65-F5344CB8AC3E}">
        <p14:creationId xmlns:p14="http://schemas.microsoft.com/office/powerpoint/2010/main" val="1837486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F7416-8824-4FB4-8598-890560E1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D5012-71A9-490B-A6A2-5FD9D8DD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D5160-0C59-4B71-9F8B-95B88580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51830-6D6E-4822-BB3C-E929E1CF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C0E1D-2BA0-4ED4-8F94-0FB3C3A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 / EXECUTIVE 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B0729-C7A1-4B54-9EFD-0AB17A5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09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角色已经进入中国，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职业市场尚未定型。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EBF8F-ABCD-4A62-89CE-A6703BA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公开招聘能够证明“有人在做”，但不足以证明已经形成统一职级、人才池与薪酬基准。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25CF3-0F46-46F6-98CA-B91DAF36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952500"/>
            <a:ext cx="4191000" cy="4857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E7EDB-B78B-4D9B-8928-53D2C0E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52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F5770-B5D5-4088-A4CE-BB189A5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命名分散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53CCE-69A2-4811-83CE-34A413D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52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C8D1D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D1DD"/>
                </a:solidFill>
                <a:latin typeface="PingFang SC"/>
                <a:ea typeface="PingFang SC"/>
                <a:cs typeface="PingFang SC"/>
              </a:rPr>
              <a:t>FDE、AI 应用交付、AI 解决方案等称谓并存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B18DE-40AF-421A-B598-FE1E0237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91DFA-E171-4ADB-88EB-57C7668A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98053-203A-413C-88E2-CF3F310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职责趋同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04016-B5D1-44DD-96F5-63226A9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C8D1D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D1DD"/>
                </a:solidFill>
                <a:latin typeface="PingFang SC"/>
                <a:ea typeface="PingFang SC"/>
                <a:cs typeface="PingFang SC"/>
              </a:rPr>
              <a:t>从需求发现一直负责到生产采用与反馈回流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ACF18-1091-4A19-8A1C-DD0DB19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279B1-3983-45D1-ACA7-4AAF225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57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F3BCA-CB8D-4FD4-948C-DED7632E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中国特征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A4ECE-4700-448E-8C66-90CD0CB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C8D1D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D1DD"/>
                </a:solidFill>
                <a:latin typeface="PingFang SC"/>
                <a:ea typeface="PingFang SC"/>
                <a:cs typeface="PingFang SC"/>
              </a:rPr>
              <a:t>私有化、权限、存量系统与行业知识权重更高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7D20F-333A-422D-B4FD-6F03B6D1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资料来源：公开岗位页面与企业材料；研究截止 2026.08.30</a:t>
            </a:r>
          </a:p>
        </p:txBody>
      </p:sp>
    </p:spTree>
    <p:extLst>
      <p:ext uri="{BB962C8B-B14F-4D97-AF65-F5344CB8AC3E}">
        <p14:creationId xmlns:p14="http://schemas.microsoft.com/office/powerpoint/2010/main" val="710261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5E4429-8CB2-486E-AE1B-AACF293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504F2-5ABF-443B-B80D-5C75FD4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形成原因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DBB9F-6C4C-419F-8E5B-7202E04C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C9912-4AC2-4274-AE32-EACCE9A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B1DCC-D16B-40BA-9563-72808C5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WHY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A9907-9754-4BDA-93BB-B315284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企业 AI 的瓶颈，正在从“能不能做”转向“能不能进生产”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83A7-31FF-44D7-9CAE-08FD911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模型接口越来越容易获得，真正稀缺的是把模型嵌入权限、数据、流程与责任边界。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D9358-B51E-4E95-A19B-BE6CB781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F6A34-B1AB-48C5-B938-6B0F649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F21D3-45C3-4812-B78D-6D86AD9D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056F-7BC0-4447-8833-40909F2F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模型可用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7F785-148F-45E9-A264-189F8EB7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API / 私有化模型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6F47A-0CDE-4412-A3B4-C62E0F9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1C932-90DD-45AA-8F28-57D5108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05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CA5A0-4511-4726-A49F-454C274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003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635E8-A03B-4748-9D31-A1F4906B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场景可行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8780F-2BAC-4522-B118-4E7D462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PoC /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40A4F-E1DE-4F9F-A0C7-06332598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90640-336A-47E0-959D-4F4D8342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05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C3FA6-08A8-423D-AD71-6B06DEB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003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945EC-5A60-42E3-BF2C-9AD91316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系统可接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6F305-440C-4DC7-8CAF-33D03EAA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86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数据 / 权限 / 集成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BEB2A-F2ED-4845-BDE7-3BFA5C3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4531B-64A1-49FA-A2B5-BDDFB09C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05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E3578-809D-4049-A1B0-8DF565A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03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F543E-EB4F-4155-A767-63B5898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一线会用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3BF62-344C-4AC4-944B-901F248B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采用 / 运营 / 变更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53BC5-4786-4FCE-BFD8-67CCEA5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29B37-85B8-4757-A99B-A3BC2395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05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5C0C4-30A1-410A-8B06-DC6579C0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组织会学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CFA62-0DE0-4B30-8DED-9F064169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评估 / 复用 / 产品反馈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1E7A86-5B71-48B3-8006-5830EC1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33950"/>
            <a:ext cx="108204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22808F-0382-4A5B-83BB-26E3D065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FDE 的价值区间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DFE3B8-3F67-4946-81CD-0E43ADF1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244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不是替代模型研发，而是接管 ②→⑤ 之间最容易失速的连续责任。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77B3D-BABC-4A01-B91E-A95DFB6F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资料来源：OpenAI、Google Cloud、Palantir 官方岗位定义；中国公开岗位样本</a:t>
            </a:r>
          </a:p>
        </p:txBody>
      </p:sp>
    </p:spTree>
    <p:extLst>
      <p:ext uri="{BB962C8B-B14F-4D97-AF65-F5344CB8AC3E}">
        <p14:creationId xmlns:p14="http://schemas.microsoft.com/office/powerpoint/2010/main" val="1828608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D456B8-91D5-4853-A3D7-ADBC1A5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7A119-2A17-4F15-9789-DF301539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角色定义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D9F3D-7373-46B7-81CA-2793B592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A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A867E-5ABB-4D43-AB50-4C27501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6CCB7-7755-41BB-9039-80A671BA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OPERATING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4B64B-A928-4DCE-AAE4-3BD9E518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FDE 不是岗位拼盘，而是一条闭环责任链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CD657-8D17-4F45-B153-64D0FD1F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AC6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AC6D4"/>
                </a:solidFill>
                <a:latin typeface="PingFang SC"/>
                <a:ea typeface="PingFang SC"/>
                <a:cs typeface="PingFang SC"/>
              </a:rPr>
              <a:t>“Forward Deployed” 的重点不是驻场，而是让现场学习持续改变产品与交付方式。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102D2-2958-4D05-BF42-09146D8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724150"/>
            <a:ext cx="18859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76DF5-F4B5-4B83-A506-7495C21E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5FD15-5E74-4B5C-BDC8-2D995491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D9EDA-A58F-44D1-B5F5-53F5AA78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rPr>
              <a:t>真实问题 / 决策人 / 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CB715-036F-49F7-BA00-7A7CC5D9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495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9263D-3B74-4BF7-A0D1-6D90B355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429000"/>
            <a:ext cx="952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AF368-61F6-49DB-84C1-F1A6D5F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724150"/>
            <a:ext cx="18859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946C7-4B95-4758-807E-8CD7CFEC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BA14D-346F-4128-BCA2-18F4932D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14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构建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DE1B8-99C1-4456-AE2D-FD6F6866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100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rPr>
              <a:t>原型 / 集成 / 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47452-7F9C-434F-8F49-44868839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495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6ECD1-7A9D-40E6-8A80-84A1CD6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429000"/>
            <a:ext cx="952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91EC2-7F60-4BB5-964F-FD10BFE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724150"/>
            <a:ext cx="18859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985C2-7823-40FD-9FF2-DE46DA2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D0A26-6F17-49D1-AF54-9EB8D15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81578-685A-49B1-AA20-CDEFD107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rPr>
              <a:t>稳定性 / 安全 / 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1BFA3-9605-4242-AF10-50FC49C8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495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5F83D-7F53-4D8D-B49D-1EF806E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429000"/>
            <a:ext cx="952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C805E-E3CA-4D79-886C-7C75DB73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2724150"/>
            <a:ext cx="18859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9A32E-6BFB-41AD-B8B7-1A781958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DC127-6CDB-443F-A9A7-09B9EE21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39E19-E389-40B2-99F8-28BA014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100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8C3D1"/>
                </a:solidFill>
                <a:latin typeface="PingFang SC"/>
                <a:ea typeface="PingFang SC"/>
                <a:cs typeface="PingFang SC"/>
              </a:rPr>
              <a:t>培训 / 运营 / 变更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AC0AC-446B-4A48-95E5-1A2D71A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3495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39BF49-3C00-4111-91DA-C5AD5F7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429000"/>
            <a:ext cx="952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240D2-447D-4913-AE64-06669935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2724150"/>
            <a:ext cx="18859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E05A42"/>
          </a:solidFill>
          <a:ln xmlns:a="http://schemas.openxmlformats.org/drawingml/2006/main" w="9525">
            <a:solidFill>
              <a:srgbClr val="E05A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88703-8449-4F6B-93C8-C246362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1B691-3D05-4A6E-A8C5-3FD4CFC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A73EA-311D-4CFB-802A-6192FE2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 / Playbook / 产品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8DDA1-E33B-4781-ADD1-7DE4067A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95850"/>
            <a:ext cx="108204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0F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3EC255-DF47-41BA-BB83-09AB073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成功标准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BB7F69-B450-476B-9011-3F2AD7A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86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生产采用 × 可衡量工作流影响 × 可复用学习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AD0731-4B51-46DC-9EBE-FCB8ABDD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530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98A8B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8A8BC"/>
                </a:solidFill>
                <a:latin typeface="PingFang SC"/>
                <a:ea typeface="PingFang SC"/>
                <a:cs typeface="PingFang SC"/>
              </a:rPr>
              <a:t>而不是“Demo 完成”</a:t>
            </a:r>
          </a:p>
        </p:txBody>
      </p:sp>
    </p:spTree>
    <p:extLst>
      <p:ext uri="{BB962C8B-B14F-4D97-AF65-F5344CB8AC3E}">
        <p14:creationId xmlns:p14="http://schemas.microsoft.com/office/powerpoint/2010/main" val="1205417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BD3EAB-F06F-4757-9F75-62212C2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23D25-CBC6-41C9-96A4-59C1967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中国岗位信号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864ED-061F-4A80-8FA4-CDA09389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91DC1-C180-48C8-99CC-B0A5B8AA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74DFA-E753-4991-AC03-81903C18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PUBLIC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7D28-854D-4303-BCBF-59A02D6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公开样本显示：FDE 已横跨平台、咨询与垂直行业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A8692-4183-4DC8-92F6-805D5C30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下表是岗位信号，不是市场规模。样本选择优先使用公司官网与可追溯招聘页。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AB549-9CF9-4863-BF3C-AE377286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组织 / 城市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4B27C-7CC2-4AFC-8437-4ACAA698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公开称谓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76D1D-6277-4A54-A257-BE7FC3B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业务环境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93CBC-A4A1-4F21-99AD-1B2123E0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最具辨识度的责任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7A61B-9D6C-4ED4-8F9E-E2DAE04F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B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4A7DB-CC35-48FC-AF84-7B3291B4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762250"/>
            <a:ext cx="109347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ADA1B-7ADA-4156-8691-C391FB9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遇碳科技 / 武汉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7D291-1488-436F-B977-E9CBADA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860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FDE 前线部署工程师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C78F8-A156-463E-82BB-8964F87C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政务・园区・校园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FE904-892B-4665-A060-2543C1B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860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数据不出域、权限同源、Agent 编排与可运营交接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CC511-07D0-455C-8012-01631AA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3CC0B-1DFB-41EB-9E05-B0765251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识林 / 北京全国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52C42-4163-4BC0-94BF-2B54146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956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制药 AI FDE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EF2A0-956D-4F41-847A-533E9CBC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95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药企质量 / GMP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D225E-2CFB-4A33-9C9C-2959D323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956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行业现场、效果指标、SOP 沉淀与产品回流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0A0ED-C7E0-4D15-A84B-08FB2CF7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1FF04-F506-4311-A739-7CF09960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01.AI / 北京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2C6C8-4737-48C5-A1A3-05574C6C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052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Forward Deployed Engineer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5F9E6-8EF0-4B3E-A9C5-3847BEB3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大模型客户项目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1B46E-6DE1-4DC1-B507-2C7B01DB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052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端到端 AI 应用、客户嵌入、跨团队回传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1BCB8-13D0-4EC8-B1DD-816FD71C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68A22-629B-4683-850D-ECCBEDBB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安永中国 / 上海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982F1C-9109-44E1-ACDE-402FC5F7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148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FDE / AI 应用交付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7EC4DE-517A-41B0-8BD9-94786A11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148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企业级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3C0EC3-34FB-4C55-BB76-50CBAB5B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架构、权限、日志、Demo—PoC—生产升级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8C53B5-3B67-4F71-8D59-C258EA6D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9D1B3D-114F-4B44-8E8C-DB4C455C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匿名头部 AI 企业 / 上海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D9085A-83DD-46C4-BEE0-5E7CD18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244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AI FDE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0433CD-8EE9-40FB-87A8-C1626F8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企业 AI 应用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1BE2AC-63F5-45BC-93E4-8A73C9AE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244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RAG、CRM/ERP/DW 集成、效果/延迟/成本优化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AA2E54-B04E-4AB4-AB7F-E7C62A2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9AD6BE-300F-4E3B-B057-06F4E63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007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3EF445-4C74-4FCA-A78C-283AA356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观察结论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00A900-861D-4CF1-B93C-66A06595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19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岗位已经出现；名称、职级与组织归属仍不统一。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7A3A4B-006E-4C03-A0A2-E4F3FE2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资料来源：公开岗位页面与企业材料；研究截止 2026.08.30</a:t>
            </a:r>
          </a:p>
        </p:txBody>
      </p:sp>
    </p:spTree>
    <p:extLst>
      <p:ext uri="{BB962C8B-B14F-4D97-AF65-F5344CB8AC3E}">
        <p14:creationId xmlns:p14="http://schemas.microsoft.com/office/powerpoint/2010/main" val="948047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1ECBF2-F757-4793-83A0-891F1CDE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BC04-9E1E-4EFD-A91A-6669B9BE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角色边界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04896-8273-4A2B-A590-19C90F6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3D289-F168-4109-B9D7-0FC2F8EF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8C42-27E8-4485-BE8F-75F92F53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ROLE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2D55F-F628-4536-B08A-675534B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FDE 的边界，不在“会不会写代码”，而在是否对现场结果负责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FC90-2D3D-430E-9096-5822F6C1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098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64C6C-126F-4FB7-93EB-7FCEA9BA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499E6-BCD7-4EAC-8E98-5C87C83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22098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C5204-8F7E-4B4E-BA49-12BC430A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客户现场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4EA09-0357-471A-BE83-2B9BBF00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2098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6B2A9-CF3C-4B2B-8CDB-D47CD8C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生产代码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303A7-8D04-4F93-9CB8-1B9961FC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2098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7192E-E0CF-4B07-B1DA-D5C434E5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业务流程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E2EE2-6907-483C-AB4B-28D716FA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2098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4F580-2A63-456E-9EDC-F07DB34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采用运营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2DB66-D073-4531-B682-49817F7E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22098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5B73F-B4A1-44A3-8D8B-74A3EE4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产品反馈闭环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C2228-53F9-4506-94DA-2074622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F46E0-9F63-4BF2-B27F-528E897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FDE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6DB69-3C81-47A6-B38B-B2A52F2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26670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73D37-816C-4D13-A6A3-23C3D2F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38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45C25-F0EF-4E5C-B241-F3B07D4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6670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E59FD-1BCE-478F-9FB9-EF34879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9862C-2D11-4276-893D-F88AE8EB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6670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8D828-2BEC-4E0E-B298-A7FD7755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84A69-6967-4374-9FF1-61CFF1BB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6670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7EE78-9927-44D8-90EC-B85ADFDE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F0739-2F51-48C6-9DDE-8C80483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26670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FD27C-D7C0-45EF-AFD3-84977852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8C440-6EBD-4419-BB99-547B4EA3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14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94841-A2F2-4D49-9B3D-F74C221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AI / 应用工程师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2E2151-C165-4493-A4BF-A015DF95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3147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580F2-C16F-461D-8C97-49F6246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861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F6061-825E-4F2B-917A-D123304A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3147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8BDD7A-0100-47B6-A4D6-404B7B3A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357B3A-3D71-46F3-A2B6-2AD088F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3147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71657C-5BBA-46AF-A74D-518F0D2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E05FD0-5B0F-4BFD-8AB9-003DCCC9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33147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36067C-7E91-4C8A-A9B3-9E789F04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981063-E76F-44BB-BEBC-A1F6BB90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3147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C16A9-8AE7-4086-BDDB-984FB87E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86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FF91B3-B079-4A3E-8E42-F522BE9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62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086F32-2AEB-4A98-AF9F-B0C55D4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解决方案架构师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698A8A-BE96-42D7-A053-70FB748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9624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181B0-64C6-4494-9D34-E9DF1A6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338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70663C-BC90-4FD0-B887-504479FA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9624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618B6D-6390-4EDF-8D98-CD4148DE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115D22-0A2F-4E0F-A812-C4BBFCC2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9624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97AECC-1700-49D0-9129-1AB1C058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3CBD5A-9BFE-4F89-A768-00CE5DE3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39624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0F76DF-0A0F-41E6-BA17-21127011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37803F-EAFE-4A73-8FF0-6CCC943B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624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2524CA-2543-4AD0-83AF-FA5FF892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33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A65968-319D-435D-BD76-23B87A3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10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DCD818-4F33-49C2-A360-6DB10494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实施 / 交付顾问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4727D0-B7A1-41F4-84E4-99D5B96C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6101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77ECEE-F3F0-4479-ADDB-AAC091A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815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43B070-1C61-4BCD-AFFB-2F14BA90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46101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97CB08-3F59-4CB6-A43D-64E722AE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3E6942-0126-407E-8D6F-8831E6A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6101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BEE987-4602-4911-8254-047B9B61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DAC24E-C426-496C-938F-D3251A5E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46101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652320-9F09-4CB0-807E-0F47AD29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4C95C7-50F1-401D-9CCC-A7BF39FE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6101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1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34FFB1-71A9-43C2-B274-1A809F0E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815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FCDD37-FB55-4FBE-9837-02D7F28C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578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F2D4B5-28B4-45F5-B9B3-25F3C676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产品经理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7C36DB-C368-48AA-8A67-C718C447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52578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166968-4C0F-4FB8-9BE4-D2AE7325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29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C5AD97-CDF9-452E-B032-CC295BA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52578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5F0C0C-C59A-428F-995E-28FD3036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29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47E9D8-AA80-4028-8C1B-D7535A80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52578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191C43-5965-4FB6-B2DA-92C11F14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9C22CA-B9D7-418B-B97E-763B111E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5257800"/>
            <a:ext cx="1600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45DC3B-872A-4E74-9DA8-A27C7CD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0F1407-8891-4CF9-A7AE-A9CF240E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52578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DCE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54858A-5FA3-40A2-BC08-6E3A5D92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88C4F6-11FC-4DCD-A5AF-80C8FBD3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● 核心责任　◐ 常见参与　○ 非核心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73EB13-DFF1-4B65-9690-3D53927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96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边界是研究抽象，会因公司而变化。</a:t>
            </a:r>
          </a:p>
        </p:txBody>
      </p:sp>
    </p:spTree>
    <p:extLst>
      <p:ext uri="{BB962C8B-B14F-4D97-AF65-F5344CB8AC3E}">
        <p14:creationId xmlns:p14="http://schemas.microsoft.com/office/powerpoint/2010/main" val="1575405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E81FF-BBF5-42C1-B0EB-1A1B11FE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044E3-B49A-4004-8DED-A86C774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中国环境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B7A39-163A-43FE-B363-96E99EB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D2DF5-EA27-4FF2-BE46-B2CF4318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0A0E4-CE70-40E7-B578-F85C68BA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CHINA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16750-6C59-4584-895A-DD3C948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中国 FDE 的难点，不只是模型，而是四层现实约束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95FBF-95B4-431A-A1EE-E32DBB3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764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CE7E0-36A0-43D7-A613-9E473169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BC756-2D23-4D55-8EE6-3D9500F5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33302-6D48-42CF-97AD-598D982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私有化 / 内网 / 数据不出域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8AA7-B3FD-4D24-8DB3-986D81D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决定模型、部署与调试方式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969F9-2A9B-4179-8237-368FFB3D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952750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9559C-60F7-412B-990E-8FC9E28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E986C-9109-455C-8814-FC99053A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06BCF-4CFD-4107-ADAC-8D1C949F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ERP / MES / CRM / LIMS / 统一身份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25B7F-0910-4F68-88C4-A77EE0CA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决定 AI 能否进入真实流程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A0835-935F-46D8-B453-98C1BEC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829050"/>
            <a:ext cx="9753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FF469-96CB-4E57-AAEA-8E663CF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188B0-FBC2-4A2C-ACB5-BA5451FC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行业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A0114-60D7-45A6-8D78-83771011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GMP / 政务 / 制造工艺 / 业务口径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C334E-3131-4576-9949-A340676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决定答案是否可用、可审计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1AAF3-5EC6-41E0-8F08-334EB5DB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705350"/>
            <a:ext cx="9220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9525">
            <a:solidFill>
              <a:srgbClr val="1724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6F63A-AA73-495C-BD8E-E6724D4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FCAEE-5D32-48D0-AE89-B3366132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9B786-4BA0-40B3-8EEA-1D68AEB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培训 / 验收 / 变更 / 值班 / 交接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1456D-2F90-4A6D-9246-4FF40BA3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149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C6D0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6D0DC"/>
                </a:solidFill>
                <a:latin typeface="PingFang SC"/>
                <a:ea typeface="PingFang SC"/>
                <a:cs typeface="PingFang SC"/>
              </a:rPr>
              <a:t>决定上线后是否持续被使用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B4163-6B9E-4E71-A836-64C15EC8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32544-EC4B-4626-910D-879F52C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中国 FDE 往往需要更强的交付纪律与行业理解，而不只是更强的 Prompt。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2BB2E-1E32-4DD7-BAD2-92484D0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资料来源：遇碳科技、识林、安永中国、Michael Page 公开岗位职责</a:t>
            </a:r>
          </a:p>
        </p:txBody>
      </p:sp>
    </p:spTree>
    <p:extLst>
      <p:ext uri="{BB962C8B-B14F-4D97-AF65-F5344CB8AC3E}">
        <p14:creationId xmlns:p14="http://schemas.microsoft.com/office/powerpoint/2010/main" val="493446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54FCA6-AD3D-491F-895D-D14FEA7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3D23B-6EF1-4D8A-A8B0-0348DAC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人才画像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A1AB2-4CF3-48EF-B2BD-968AC27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5AABF-17E4-4C3C-B52E-21CC711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504CC-5B29-46EC-BC8E-96489EB1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TALENT TOPOLOGY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45255-1D98-4C78-AFDE-C15CAB46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真正稀缺的不是“全栈”，而是跨越三种语言的能力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9A5AB-66BB-41CA-A3FC-9A2B020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33600"/>
            <a:ext cx="8858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F1693-05DD-4581-8F9D-0A115A22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A216F-65CA-43D6-B7F2-F6A2C560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技术语言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6D31-BE97-4A83-A033-F873324B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03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代码 / 数据 / 模型 / 评估 / 稳定性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AE4B4-7E4F-4543-B06C-5995FD93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00400"/>
            <a:ext cx="8096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05886-4C50-4EE6-BBF6-6CA446F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5EE83-36FE-4348-8B68-494E5A4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业务语言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D4A69-DB20-4DDC-9EFE-78F0233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67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流程 / 决策 / 风险 / 行业知识 / 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B3E47-DCF9-4901-B942-9932691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67200"/>
            <a:ext cx="7334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02B6A-3577-4790-90B2-885D0BF4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0A414-579B-4D37-9BD5-2454AD4A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672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交付语言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EF16E-52DB-4331-8539-549A378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33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C8D2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D2DF"/>
                </a:solidFill>
                <a:latin typeface="PingFang SC"/>
                <a:ea typeface="PingFang SC"/>
                <a:cs typeface="PingFang SC"/>
              </a:rPr>
              <a:t>范围 / 节奏 / 验收 / 采用 / 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FF0D0-D8DB-4F17-838C-956637A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533650"/>
            <a:ext cx="2667000" cy="2800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1"/>
          </a:solidFill>
          <a:ln xmlns:a="http://schemas.openxmlformats.org/drawingml/2006/main" w="19050">
            <a:solidFill>
              <a:srgbClr val="E05A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EE61F-8785-4E7E-B494-5352C6D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297180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6F090-5397-4EFD-B071-D168A62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72227-E251-41F5-8977-BCD07844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把三种语言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翻译成同一结果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E4EFB-E723-4FC5-81F4-C8E50C6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578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EDE44-ED46-4A6E-A6EC-DD027DA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人才入口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F91EF-428E-4443-BF3A-DB0C832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软件 / 数据 / 咨询 / 行业专家都可能转入；但“客户面对 + 生产交付”必须通过真实项目形成。</a:t>
            </a:r>
          </a:p>
        </p:txBody>
      </p:sp>
    </p:spTree>
    <p:extLst>
      <p:ext uri="{BB962C8B-B14F-4D97-AF65-F5344CB8AC3E}">
        <p14:creationId xmlns:p14="http://schemas.microsoft.com/office/powerpoint/2010/main" val="808242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F1856-425D-498E-9502-C7894406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0E5B5-82BF-4F47-B833-FA04E276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组织模型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B24E4-1B83-45EC-9CC2-61714B90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A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68C75-6CEC-43CF-8180-E7F32D0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A2666-C805-4A96-964F-D1FB2B10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OPERATING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6574F-3E2B-4400-9C09-6C56CC6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中国不会只有一种 FDE：四种组织模型会并存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B2D8A-97A9-4198-890A-0CFC7769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71700"/>
            <a:ext cx="51054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152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42F43-D6A3-438E-A9FC-17C04E11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1828B-BFBA-4B2D-9916-706692D2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D59B1-232D-40C7-B699-3C2A9C6A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2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DC8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DC8D6"/>
                </a:solidFill>
                <a:latin typeface="PingFang SC"/>
                <a:ea typeface="PingFang SC"/>
                <a:cs typeface="PingFang SC"/>
              </a:rPr>
              <a:t>模型 / 数据 / AI 平台公司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C7396-0E44-4E0F-A10A-B312CE9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用现场学习改变核心产品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0A3B6-0E82-4576-8C82-6C6EE224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1242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3B7E1-CE51-4EF8-88DB-EA71A3E0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718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8D3E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8D3E0"/>
                </a:solidFill>
                <a:latin typeface="PingFang SC"/>
                <a:ea typeface="PingFang SC"/>
                <a:cs typeface="PingFang SC"/>
              </a:rPr>
              <a:t>产品杠杆高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D0F45-FCCA-41C1-BD00-C8C4A6A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2171700"/>
            <a:ext cx="51054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05A42"/>
          </a:solidFill>
          <a:ln xmlns:a="http://schemas.openxmlformats.org/drawingml/2006/main" w="9525">
            <a:solidFill>
              <a:srgbClr val="E05A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11D29-BEDD-4D62-B0E5-F5DE7C2E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EAAB8-66A4-4EBB-BF82-F52BBC02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行业型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A65B2-2161-4DA7-BC13-4B383DF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医药 / 制造 / 能源等垂直公司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CBAA9-5B3F-4222-9254-A9BD5292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用行业知识缩短价值闭环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E2CA9-C3B2-4DCC-9B89-63F0D47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31242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9B7D1-AA3F-4129-84E4-395BE893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718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领域壁垒高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3D2BD-761A-494E-9D72-02824FD1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81450"/>
            <a:ext cx="51054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152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15CD5-B60D-42DF-81E9-2821DBF5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D137C-5322-43D7-8003-1424C8D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咨询交付型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CA4F-0411-4400-915F-73B30F41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DC8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DC8D6"/>
                </a:solidFill>
                <a:latin typeface="PingFang SC"/>
                <a:ea typeface="PingFang SC"/>
                <a:cs typeface="PingFang SC"/>
              </a:rPr>
              <a:t>咨询 / SI / 企业服务公司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01903-EF40-4362-B270-6F1DE861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把项目制交付升级为 AI 工程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364C7-CDDA-460E-AA7C-57AE85B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339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FEB3A-FA60-4751-B794-E7940D5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815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8D3E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8D3E0"/>
                </a:solidFill>
                <a:latin typeface="PingFang SC"/>
                <a:ea typeface="PingFang SC"/>
                <a:cs typeface="PingFang SC"/>
              </a:rPr>
              <a:t>规模纪律高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89050-8EFE-41E9-8AB5-477DDA0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981450"/>
            <a:ext cx="51054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152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BC3A3-9584-4CCF-9F9A-A812208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122C9-9876-4343-A766-C40E067F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33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企业内部型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CFDA6-FED9-40A4-AED1-5C057483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DC8D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DC8D6"/>
                </a:solidFill>
                <a:latin typeface="PingFang SC"/>
                <a:ea typeface="PingFang SC"/>
                <a:cs typeface="PingFang SC"/>
              </a:rPr>
              <a:t>大型企业 AI / 数字化团队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1CE435-415C-44AD-B0F5-43A245A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嵌入业务部门重构工作流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28C16-0E1C-4BD6-BC3F-E58C83C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49339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4103C-43DE-44F7-8B36-F7082B4C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815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8D3E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8D3E0"/>
                </a:solidFill>
                <a:latin typeface="PingFang SC"/>
                <a:ea typeface="PingFang SC"/>
                <a:cs typeface="PingFang SC"/>
              </a:rPr>
              <a:t>组织协同高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43D53D-CBF0-465A-B4EA-4E236E68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研究判断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6E7237-8693-46D0-8C96-BD1B8E62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9626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2026 年最清晰的中国样本集中在行业型与咨询交付型；平台型和企业内部型正在显性化。</a:t>
            </a:r>
          </a:p>
        </p:txBody>
      </p:sp>
    </p:spTree>
    <p:extLst>
      <p:ext uri="{BB962C8B-B14F-4D97-AF65-F5344CB8AC3E}">
        <p14:creationId xmlns:p14="http://schemas.microsoft.com/office/powerpoint/2010/main" val="155015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17B24-E096-475E-9F2B-85CC05C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DA400-8602-4B57-BEAE-67494D5F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成熟度与经济性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59437-D757-47A9-B2EA-A37E4760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A8808-0190-4E24-88FE-6CD8F3A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20BA2-E791-4439-B3F7-771D324A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MATURITY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81883-100C-4F6A-B8AB-7A31833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FDE 的经营分水岭：一次交付能否变成下一次的起点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996D0-2A3D-4051-B8F4-B730B1C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29100"/>
            <a:ext cx="21526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33B44-6CED-46AB-8168-0CB0C28D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EC5B-11C5-40A1-87C1-F0EC732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PoC 突击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AF1F5-B30C-4F40-BC93-CCA9C90C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靠个人救火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2592C-3062-458A-B90D-CCE469AD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562350"/>
            <a:ext cx="21526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D2225-6D55-4A05-A2B2-E3F4C317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52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0A195-A4A9-4586-83C5-D620A421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交付产品化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3D786-A183-47EC-82C0-DE8CA11C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10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形成模板与工具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DE96C-9D67-424D-8320-DF9C4E5A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95600"/>
            <a:ext cx="2152650" cy="276225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4E54E-C7CD-4E5C-9E23-F98392D8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86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A6BA2-8176-4314-9784-589352E5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平台反馈回路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298D8-DD96-47CF-8189-16217791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43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8D2D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2DF"/>
                </a:solidFill>
                <a:latin typeface="PingFang SC"/>
                <a:ea typeface="PingFang SC"/>
                <a:cs typeface="PingFang SC"/>
              </a:rPr>
              <a:t>共性进入核心产品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6C693-5BAC-4334-B52E-2AF50DE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228850"/>
            <a:ext cx="2152650" cy="342900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F798A-6223-4498-AD0A-94E55ED0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99AB8-247F-4E3E-845C-9C8EDF19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结果型经营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B1047-39F8-4239-B2CE-9DCBBDBE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8D2D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2DF"/>
                </a:solidFill>
                <a:latin typeface="PingFang SC"/>
                <a:ea typeface="PingFang SC"/>
                <a:cs typeface="PingFang SC"/>
              </a:rPr>
              <a:t>按采用与业务结果管理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B1596-1A59-4400-83BD-34F14D3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B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44BF4-1D5C-4607-A92A-7738955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5876925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83CC8-ADFE-41A3-B73F-F400CC16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245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中国 2026 常见区间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82EF0-E38B-4853-B864-20F0F53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43575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05A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26709-E26D-4958-994A-31D2B55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研究推断：多数公开样本位于 ①—②，少数已明确要求 ③ 的回流机制。</a:t>
            </a:r>
          </a:p>
        </p:txBody>
      </p:sp>
    </p:spTree>
    <p:extLst>
      <p:ext uri="{BB962C8B-B14F-4D97-AF65-F5344CB8AC3E}">
        <p14:creationId xmlns:p14="http://schemas.microsoft.com/office/powerpoint/2010/main" val="14304075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40219-C503-453A-9819-084B0142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67360-2350-41A0-81CC-A513BA72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2026—2027 展望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EF607-8646-447D-B226-229D0E2C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69529-18DD-4ACC-A259-613F617D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5967B-9668-4C7C-A482-E0A452C6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A61A7-AE14-481B-8BE2-FD0E8FC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未来 12—18 个月：职位会增加，但“FDE”未必成为唯一名称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227D6-2CA2-420F-96C0-B851B9B1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以下为基于公开岗位与全球组织动作的情景推断，不是确定性预测。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D3899-924E-46C0-8CBC-1D62473F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6220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C6A15-BFCB-428E-AF60-C69E10A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590800"/>
            <a:ext cx="80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5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29EBF-C22B-40FF-BA4E-556BCCF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高置信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5AB3F-48F4-4EA9-A716-AB0CC9D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5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职责继续显性化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1AB09-E2AA-4A80-ACB5-91F9D7A1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651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C9D3D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9D3DF"/>
                </a:solidFill>
                <a:latin typeface="PingFang SC"/>
                <a:ea typeface="PingFang SC"/>
                <a:cs typeface="PingFang SC"/>
              </a:rPr>
              <a:t>需求发现—生产上线—采用—反馈，成为企业 AI 交付的完整责任链。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153B3-633E-4DE8-AABD-BE61E49E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7660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B7AB2-A913-4B76-B067-22E46D41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505200"/>
            <a:ext cx="80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E1642-F61E-4FF1-941A-62B98253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中置信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0CC72-BFC9-49FC-9D56-804A122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垂直 FDE 增长更快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FB0FA-872F-4962-8EE8-555CAF8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57575"/>
            <a:ext cx="651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医药、制造、政企、金融等高约束场景更需要“行业 × 工程”复合人才。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2274C-A0E8-451F-AC84-BD4C4C7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9100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90199-A426-45B9-B28B-2FB789B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419600"/>
            <a:ext cx="80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F8836-1133-4B94-A91B-8849E5A9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中置信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8D6E7-9518-4092-BBB7-60667EF7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8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内部 FDE 增多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14EA3-3273-45A2-A0DD-2AF1E67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71975"/>
            <a:ext cx="651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大型企业会用 AI BP、应用工程、数字化突击队等名称承担类似职责。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B5FF6-5617-4446-95CD-34678B0A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0540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D4EEE-E48E-4C50-9338-EFC96758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5334000"/>
            <a:ext cx="800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5E2AA-F667-49A0-80B7-7600886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低置信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AFDA3-A9EB-4DFA-B01D-6DB7A843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95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收费模式转向结果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88D1F-0ABD-4768-AF56-5B10E88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86375"/>
            <a:ext cx="651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从人天与验收转向生产采用、业务 KPI 与可复用资产，但合同机制仍是障碍。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2F431-1C3F-4C78-9A1D-7759BEC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推断基础：全球 FDE 团队扩张、中文岗位出现、行业型岗位职责趋同</a:t>
            </a:r>
          </a:p>
        </p:txBody>
      </p:sp>
    </p:spTree>
    <p:extLst>
      <p:ext uri="{BB962C8B-B14F-4D97-AF65-F5344CB8AC3E}">
        <p14:creationId xmlns:p14="http://schemas.microsoft.com/office/powerpoint/2010/main" val="12305340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8D81B-66D0-4FCE-A775-24AB9F13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3EA5B-E221-4A2B-BA98-E0D3BDE0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行动建议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1755A-1A93-4F67-A34F-0AE38EB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A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9F9F6-A9E7-458C-8893-F04A8919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DE5E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5CB33-88A4-40BD-BB86-4F8EB16D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WHAT TO DO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5F33C-8952-433B-AFF7-D8EB621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先设计闭环，再招聘“超级英雄”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B101E-0D75-429D-B8B2-87F233D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CC8D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CC8D6"/>
                </a:solidFill>
                <a:latin typeface="PingFang SC"/>
                <a:ea typeface="PingFang SC"/>
                <a:cs typeface="PingFang SC"/>
              </a:rPr>
              <a:t>一个可运行的最小 FDE 机制，应同时锁定任务、团队、指标与复用。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3185A-0D5B-4296-9C5C-356C55AE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590800"/>
            <a:ext cx="2400300" cy="266700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6F791-B8CF-4C16-AC39-7D078722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A7011-1DD2-420B-9753-2CC7B3BF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B2B91-8BCB-47F2-99BE-66B63513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8CD54-AC58-4A86-A02A-9E981C5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C2CDD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2CDDA"/>
                </a:solidFill>
                <a:latin typeface="PingFang SC"/>
                <a:ea typeface="PingFang SC"/>
                <a:cs typeface="PingFang SC"/>
              </a:rPr>
              <a:t>高价值、强约束、需求仍模糊，且能接触真实用户与系统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C0E1B-5676-43CB-9DB8-EAE73CC6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2590800"/>
            <a:ext cx="2400300" cy="266700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9CB50-0DE9-48F3-902C-D953C8D3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19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229B8-5660-4C0B-A978-B478C934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组小队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BEA62-29B7-4B48-BB9A-5698742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BF873-D684-49BA-A67F-C5D58BDE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C2CDD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2CDDA"/>
                </a:solidFill>
                <a:latin typeface="PingFang SC"/>
                <a:ea typeface="PingFang SC"/>
                <a:cs typeface="PingFang SC"/>
              </a:rPr>
              <a:t>1 名 FDE + 领域负责人 + 产品/平台支援；避免单人驻场孤岛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B1AF4-5031-4E0A-9183-68F9C97D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2590800"/>
            <a:ext cx="2400300" cy="266700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24344A"/>
          </a:solidFill>
          <a:ln xmlns:a="http://schemas.openxmlformats.org/drawingml/2006/main" w="9525">
            <a:solidFill>
              <a:srgbClr val="4051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38BEA-6AEE-4C17-8B34-194340A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DEEE4-5169-4808-B764-05800EA9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6C38D-704D-45D0-996B-9C30302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0F54E-0A31-4F91-A831-E39BC434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C2CDD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2CDDA"/>
                </a:solidFill>
                <a:latin typeface="PingFang SC"/>
                <a:ea typeface="PingFang SC"/>
                <a:cs typeface="PingFang SC"/>
              </a:rPr>
              <a:t>首次价值时间、生产采用、业务结果、可复用率、支持负担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5BB75-7FB0-45D1-B28D-756F0BDC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590800"/>
            <a:ext cx="2400300" cy="266700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E05A42"/>
          </a:solidFill>
          <a:ln xmlns:a="http://schemas.openxmlformats.org/drawingml/2006/main" w="9525">
            <a:solidFill>
              <a:srgbClr val="E05A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1CE7E-000E-4AFC-A60D-2F09A5CC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19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2C1EE-2B36-4B4E-8E3F-177900B8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建回流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8EADA-9B16-4688-9C7A-E276CFB0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F1BFC-7A8A-455F-9C66-490767DE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每次交付必须沉淀工具、评估集、Playbook 或产品需求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DF4FC-3DD1-400F-B7E7-001D1369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959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1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74FCF-F43F-41A8-AA71-103ED45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启动门槛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B72FD-17CC-4EE8-9C96-C34BED8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91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没有业务 Owner、生产系统权限和可衡量结果，就先不要设 FDE 岗位。</a:t>
            </a:r>
          </a:p>
        </p:txBody>
      </p:sp>
    </p:spTree>
    <p:extLst>
      <p:ext uri="{BB962C8B-B14F-4D97-AF65-F5344CB8AC3E}">
        <p14:creationId xmlns:p14="http://schemas.microsoft.com/office/powerpoint/2010/main" val="18179883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2E596-6FFC-4D85-A7C2-8F2C9A7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FDE 中国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BD6D4-1AD2-4B5A-92A7-7B856EB7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方法与边界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F02D-C437-40ED-A252-363C54F1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BCB58-05F4-4DA4-B4AB-32020721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DF39-BF25-4072-B627-BD98EAA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A5A1D-0496-4B00-A743-6C6B2C27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本报告证明“角色出现”，不声称“市场成熟”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BC9D6-1914-45C9-81D3-14FC62A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54858-66BA-4BBB-ACF4-1F68DF5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1D77F-0282-4281-A9F6-B52EBA2E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5 个中国公开岗位样本 + 3 个全球基准岗位/组织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58C86-210F-4BF7-B310-0F87287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759EC-86FE-49BB-8A74-FD1BBE1F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E478E-96F1-4D9D-8969-3A64CFFB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95265-A4D4-427B-89B0-848BCFD6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优先公司官网与官方职业页面；招聘平台只作岗位信号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2E40E-DA13-4D3E-BC6B-A5C9D7B8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E25EC-5E09-4B45-93C2-FF0AEEB5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F6C26-7D08-4D8A-BA3E-96F2E748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9DC0F-92EE-4C4C-BFD1-1CD44E2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抽取职责、客户环境、技术边界、采用责任与反馈机制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DE815-0580-4770-906D-EEE1660C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8CA06-2D3F-4683-A77F-1E1CE98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74860-3E41-4328-A857-F9F67173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B2D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F1A93-AD23-4764-BE54-8C496A9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0"/>
                </a:solidFill>
                <a:latin typeface="PingFang SC"/>
                <a:ea typeface="PingFang SC"/>
                <a:cs typeface="PingFang SC"/>
              </a:rPr>
              <a:t>未做招聘网站全量抓取；不估算岗位数、薪资中位数或市场规模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371E1-26A7-4C1B-B916-1D14EA55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5A8BE-C770-4E70-80ED-DAA772B0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5435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FA822-0929-4AD0-AF4A-D542C7D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05A4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05A42"/>
                </a:solidFill>
                <a:latin typeface="PingFang SC"/>
                <a:ea typeface="PingFang SC"/>
                <a:cs typeface="PingFang SC"/>
              </a:rPr>
              <a:t>建议的下一轮研究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F8B71-2702-42B0-94E7-5B94CD5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15000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建立 30—50 个岗位样本库，并访谈 FDE、业务 Owner、产品负责人三类角色。</a:t>
            </a:r>
          </a:p>
        </p:txBody>
      </p:sp>
    </p:spTree>
    <p:extLst>
      <p:ext uri="{BB962C8B-B14F-4D97-AF65-F5344CB8AC3E}">
        <p14:creationId xmlns:p14="http://schemas.microsoft.com/office/powerpoint/2010/main" val="1946346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2026-08-30T05:44:24.6280000Z</dcterms:created>
  <dcterms:modified xsi:type="dcterms:W3CDTF">2026-08-30T05:44:24.6280000Z</dcterms:modified>
</coreProperties>
</file>